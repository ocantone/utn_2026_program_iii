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70" r:id="rId4"/>
    <p:sldId id="271" r:id="rId5"/>
    <p:sldId id="258" r:id="rId6"/>
    <p:sldId id="259" r:id="rId7"/>
    <p:sldId id="260" r:id="rId8"/>
    <p:sldId id="262" r:id="rId9"/>
    <p:sldId id="261" r:id="rId10"/>
    <p:sldId id="263" r:id="rId11"/>
    <p:sldId id="264" r:id="rId12"/>
    <p:sldId id="272" r:id="rId13"/>
    <p:sldId id="265" r:id="rId14"/>
    <p:sldId id="266" r:id="rId15"/>
    <p:sldId id="267" r:id="rId16"/>
    <p:sldId id="268" r:id="rId17"/>
    <p:sldId id="269" r:id="rId18"/>
  </p:sldIdLst>
  <p:sldSz cx="9144000" cy="6858000" type="screen4x3"/>
  <p:notesSz cx="7559675" cy="10691813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24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BD3465A-AD72-4114-A621-D52FBDBA961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900D955-A739-46B3-AAF6-53775BE8CFF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1A0AF6F-09AA-498D-BFB4-C2C8750C3C3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3639561-187F-4675-8734-F0A7CA4DE4A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8DE964C-38E0-402B-B16B-529DA54C6B6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91B049E-D75A-42F5-80DE-930E23BA752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D4358DC-F1D5-4E47-A8A0-0E421A5D784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DC65A23-D0A5-49DF-BB4C-B10DA3DA67A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</a:p>
        </p:txBody>
      </p:sp>
      <p:sp>
        <p:nvSpPr>
          <p:cNvPr id="48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172EAF6-38CA-4F3D-A2E2-6BEBD9FEAE4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del texto de título</a:t>
            </a:r>
          </a:p>
        </p:txBody>
      </p:sp>
      <p:sp>
        <p:nvSpPr>
          <p:cNvPr id="50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4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</a:p>
        </p:txBody>
      </p:sp>
      <p:sp>
        <p:nvSpPr>
          <p:cNvPr id="56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6747C4E-0B4A-4D84-A6D8-AA73CB82BDC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60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</a:p>
        </p:txBody>
      </p:sp>
      <p:sp>
        <p:nvSpPr>
          <p:cNvPr id="62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677CD13-5566-49E1-9BBC-73C58114DAA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Programación III</a:t>
            </a: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rgbClr val="2A6099"/>
                </a:solidFill>
                <a:effectLst/>
                <a:uFillTx/>
                <a:latin typeface="Calibri"/>
              </a:rPr>
              <a:t>Clase 1: Fundamentos de la Web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1" u="none" strike="noStrike" dirty="0" err="1">
                <a:solidFill>
                  <a:schemeClr val="bg1"/>
                </a:solidFill>
                <a:effectLst/>
                <a:uFillTx/>
                <a:latin typeface="Calibri"/>
              </a:rPr>
              <a:t>Objetivos</a:t>
            </a:r>
            <a:endParaRPr lang="en-US" sz="4400" b="1" u="none" strike="noStrike" dirty="0">
              <a:solidFill>
                <a:schemeClr val="bg1"/>
              </a:solidFill>
              <a:effectLst/>
              <a:uFillTx/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Entender cómo funciona la web</a:t>
            </a: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Introducir cliente-servidor</a:t>
            </a: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Comprender HTTP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C45CF0-65B9-4AB2-7933-D1916AAFA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>
            <a:extLst>
              <a:ext uri="{FF2B5EF4-FFF2-40B4-BE49-F238E27FC236}">
                <a16:creationId xmlns:a16="http://schemas.microsoft.com/office/drawing/2014/main" id="{3FD9EAEF-287D-6A48-B54A-ED57B7F5D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1" u="none" strike="noStrike" dirty="0" err="1">
                <a:solidFill>
                  <a:schemeClr val="bg1"/>
                </a:solidFill>
                <a:effectLst/>
                <a:uFillTx/>
                <a:latin typeface="Calibri"/>
              </a:rPr>
              <a:t>Objetivos</a:t>
            </a:r>
            <a:endParaRPr lang="en-US" sz="4400" b="1" u="none" strike="noStrike" dirty="0">
              <a:solidFill>
                <a:schemeClr val="bg1"/>
              </a:solidFill>
              <a:effectLst/>
              <a:uFillTx/>
              <a:latin typeface="Calibri"/>
            </a:endParaRPr>
          </a:p>
        </p:txBody>
      </p:sp>
      <p:sp>
        <p:nvSpPr>
          <p:cNvPr id="66" name="PlaceHolder 2">
            <a:extLst>
              <a:ext uri="{FF2B5EF4-FFF2-40B4-BE49-F238E27FC236}">
                <a16:creationId xmlns:a16="http://schemas.microsoft.com/office/drawing/2014/main" id="{D816851C-5C84-5631-5677-D815F3308FEC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3200" dirty="0"/>
              <a:t>En Programación I aprendieron a programar.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3200" dirty="0"/>
              <a:t>En Programación II aprendieron a estructurar (objetos).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3200" dirty="0"/>
              <a:t>En Programación III vamos a </a:t>
            </a:r>
            <a:r>
              <a:rPr lang="es-ES" sz="3200" b="1" dirty="0"/>
              <a:t>conectar todo eso con el mundo real: la web</a:t>
            </a:r>
            <a:r>
              <a:rPr lang="es-ES" sz="3200" dirty="0"/>
              <a:t>.”</a:t>
            </a: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endParaRPr lang="en-US" sz="32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4647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4656DB-2366-736C-DB2C-1AD531DA7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>
            <a:extLst>
              <a:ext uri="{FF2B5EF4-FFF2-40B4-BE49-F238E27FC236}">
                <a16:creationId xmlns:a16="http://schemas.microsoft.com/office/drawing/2014/main" id="{016712E5-CE12-AD7A-5291-F56821F2B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1" u="none" strike="noStrike" dirty="0" err="1">
                <a:solidFill>
                  <a:schemeClr val="bg1"/>
                </a:solidFill>
                <a:effectLst/>
                <a:uFillTx/>
                <a:latin typeface="Calibri"/>
              </a:rPr>
              <a:t>Objetivos</a:t>
            </a:r>
            <a:endParaRPr lang="en-US" sz="4400" b="1" u="none" strike="noStrike" dirty="0">
              <a:solidFill>
                <a:schemeClr val="bg1"/>
              </a:solidFill>
              <a:effectLst/>
              <a:uFillTx/>
              <a:latin typeface="Calibri"/>
            </a:endParaRPr>
          </a:p>
        </p:txBody>
      </p:sp>
      <p:sp>
        <p:nvSpPr>
          <p:cNvPr id="66" name="PlaceHolder 2">
            <a:extLst>
              <a:ext uri="{FF2B5EF4-FFF2-40B4-BE49-F238E27FC236}">
                <a16:creationId xmlns:a16="http://schemas.microsoft.com/office/drawing/2014/main" id="{AC63A20F-2116-19B6-C742-F8A57345E905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r>
              <a:rPr lang="es-ES" sz="3200" b="1" dirty="0"/>
              <a:t>Lo vamos a hacer mediante: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s-ES" sz="3200" dirty="0" err="1"/>
              <a:t>Frontend</a:t>
            </a:r>
            <a:r>
              <a:rPr lang="es-ES" sz="3200" dirty="0"/>
              <a:t> (HTML, CSS, JS)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 err="1"/>
              <a:t>Backend</a:t>
            </a:r>
            <a:r>
              <a:rPr lang="es-ES" sz="3200" dirty="0"/>
              <a:t> (PHP)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 err="1"/>
              <a:t>APIs</a:t>
            </a:r>
            <a:r>
              <a:rPr lang="es-ES" sz="3200" dirty="0"/>
              <a:t>  (Servicios)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/>
              <a:t>Docker (Despliegue 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 err="1"/>
              <a:t>Nginx</a:t>
            </a:r>
            <a:r>
              <a:rPr lang="es-ES" sz="3200" dirty="0"/>
              <a:t>  (Servidor)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/>
              <a:t>Mobile (</a:t>
            </a:r>
            <a:r>
              <a:rPr lang="es-ES" sz="3200" dirty="0" err="1"/>
              <a:t>React</a:t>
            </a:r>
            <a:r>
              <a:rPr lang="es-ES" sz="3200" dirty="0"/>
              <a:t> Native)</a:t>
            </a: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endParaRPr lang="en-US" sz="32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73811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Pregunta inicial</a:t>
            </a: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216936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¿</a:t>
            </a:r>
            <a:r>
              <a:rPr lang="en-US" sz="32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</a:rPr>
              <a:t>Qué</a:t>
            </a: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32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</a:rPr>
              <a:t>pasa</a:t>
            </a: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32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</a:rPr>
              <a:t>cuando</a:t>
            </a: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32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</a:rPr>
              <a:t>escribimos</a:t>
            </a: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32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</a:rPr>
              <a:t>una</a:t>
            </a: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 URL </a:t>
            </a:r>
            <a:r>
              <a:rPr lang="en-US" sz="32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</a:rPr>
              <a:t>en</a:t>
            </a: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32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</a:rPr>
              <a:t>el</a:t>
            </a: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32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</a:rPr>
              <a:t>navegador</a:t>
            </a: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?</a:t>
            </a: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dirty="0">
                <a:solidFill>
                  <a:schemeClr val="dk1"/>
                </a:solidFill>
                <a:latin typeface="Calibri"/>
              </a:rPr>
              <a:t>URL: User Resource Locator</a:t>
            </a:r>
            <a:endParaRPr lang="en-US" sz="32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13EF8DB-C8AA-2C30-FD67-473F1256CC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8050" y="3644640"/>
            <a:ext cx="3416807" cy="25768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¿Qué es una aplicación web?</a:t>
            </a: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Sistema distribuido</a:t>
            </a: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Cliente + Servidor</a:t>
            </a: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Ejemplos: Gmail, MercadoLibre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Arquitectura Cliente-Servidor</a:t>
            </a: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Cliente solicita</a:t>
            </a: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Servidor responde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Analogía</a:t>
            </a: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Cliente (restaurante) pide</a:t>
            </a: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Servidor (cocina) prepara</a:t>
            </a: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Mozo entrega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Esquema</a:t>
            </a: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Cliente → request → Servidor</a:t>
            </a: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Cliente ← response ← Servidor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HTTP</a:t>
            </a: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Hyper Text Transfer Protocol.</a:t>
            </a: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</a:rPr>
              <a:t>Protocolo</a:t>
            </a: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 de </a:t>
            </a:r>
            <a:r>
              <a:rPr lang="en-US" sz="32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</a:rPr>
              <a:t>comunicación</a:t>
            </a:r>
            <a:endParaRPr lang="en-US" sz="32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Define </a:t>
            </a:r>
            <a:r>
              <a:rPr lang="en-US" sz="32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</a:rPr>
              <a:t>cómo</a:t>
            </a: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 se </a:t>
            </a:r>
            <a:r>
              <a:rPr lang="en-US" sz="32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</a:rPr>
              <a:t>envían</a:t>
            </a: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32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</a:rPr>
              <a:t>pedidos</a:t>
            </a: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 y </a:t>
            </a:r>
            <a:r>
              <a:rPr lang="en-US" sz="32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</a:rPr>
              <a:t>respuestas</a:t>
            </a:r>
            <a:endParaRPr lang="en-US" sz="32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Request</a:t>
            </a: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1228725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s-ES" sz="3200" dirty="0"/>
              <a:t>“¿Qué pasa cuando escriben “</a:t>
            </a:r>
            <a:r>
              <a:rPr lang="es-ES" sz="3200" i="1" dirty="0"/>
              <a:t>google.com” </a:t>
            </a:r>
            <a:r>
              <a:rPr lang="es-ES" sz="3200" dirty="0"/>
              <a:t>y presionan </a:t>
            </a:r>
            <a:r>
              <a:rPr lang="es-ES" sz="3200" dirty="0" err="1"/>
              <a:t>Enter</a:t>
            </a:r>
            <a:r>
              <a:rPr lang="es-ES" sz="3200" dirty="0"/>
              <a:t>?”</a:t>
            </a:r>
            <a:endParaRPr lang="en-US" sz="32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FAEDBD-ECF5-4B81-2201-39711177B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>
            <a:extLst>
              <a:ext uri="{FF2B5EF4-FFF2-40B4-BE49-F238E27FC236}">
                <a16:creationId xmlns:a16="http://schemas.microsoft.com/office/drawing/2014/main" id="{A781EAE5-AE49-E618-26FB-9A75028C5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Request</a:t>
            </a:r>
          </a:p>
        </p:txBody>
      </p:sp>
      <p:sp>
        <p:nvSpPr>
          <p:cNvPr id="80" name="PlaceHolder 2">
            <a:extLst>
              <a:ext uri="{FF2B5EF4-FFF2-40B4-BE49-F238E27FC236}">
                <a16:creationId xmlns:a16="http://schemas.microsoft.com/office/drawing/2014/main" id="{43349092-C69B-C610-0429-EF705A38AB08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Método (GET, POST)</a:t>
            </a: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URL</a:t>
            </a: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Headers</a:t>
            </a:r>
          </a:p>
        </p:txBody>
      </p:sp>
    </p:spTree>
    <p:extLst>
      <p:ext uri="{BB962C8B-B14F-4D97-AF65-F5344CB8AC3E}">
        <p14:creationId xmlns:p14="http://schemas.microsoft.com/office/powerpoint/2010/main" val="42510334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Response</a:t>
            </a: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Código (200, 404)</a:t>
            </a: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Contenido (HTML, JSON)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Ejemplo</a:t>
            </a: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GET / HTTP/1.1</a:t>
            </a: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Host: example.com</a:t>
            </a: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HTTP/1.1 200 OK</a:t>
            </a: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Content-Type: text/html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Idea clave</a:t>
            </a: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Todo en la web es:</a:t>
            </a: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request → response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Actividad</a:t>
            </a: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Caso: Login</a:t>
            </a: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¿Quién es cliente?</a:t>
            </a: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¿Quién es servidor?</a:t>
            </a: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¿Qué ocurre?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Cierre</a:t>
            </a: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Base de toda la materia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</TotalTime>
  <Words>262</Words>
  <Application>Microsoft Office PowerPoint</Application>
  <PresentationFormat>Presentación en pantalla (4:3)</PresentationFormat>
  <Paragraphs>64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3" baseType="lpstr">
      <vt:lpstr>Arial</vt:lpstr>
      <vt:lpstr>Calibri</vt:lpstr>
      <vt:lpstr>Symbol</vt:lpstr>
      <vt:lpstr>Times New Roman</vt:lpstr>
      <vt:lpstr>Wingdings</vt:lpstr>
      <vt:lpstr>Office Theme</vt:lpstr>
      <vt:lpstr>Programación III</vt:lpstr>
      <vt:lpstr>Objetivos</vt:lpstr>
      <vt:lpstr>Objetivos</vt:lpstr>
      <vt:lpstr>Objetivos</vt:lpstr>
      <vt:lpstr>Pregunta inicial</vt:lpstr>
      <vt:lpstr>¿Qué es una aplicación web?</vt:lpstr>
      <vt:lpstr>Arquitectura Cliente-Servidor</vt:lpstr>
      <vt:lpstr>Analogía</vt:lpstr>
      <vt:lpstr>Esquema</vt:lpstr>
      <vt:lpstr>HTTP</vt:lpstr>
      <vt:lpstr>Request</vt:lpstr>
      <vt:lpstr>Request</vt:lpstr>
      <vt:lpstr>Response</vt:lpstr>
      <vt:lpstr>Ejemplo</vt:lpstr>
      <vt:lpstr>Idea clave</vt:lpstr>
      <vt:lpstr>Actividad</vt:lpstr>
      <vt:lpstr>Cierre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>generated using python-pptx</dc:description>
  <cp:lastModifiedBy>Osvaldo Cantone</cp:lastModifiedBy>
  <cp:revision>6</cp:revision>
  <dcterms:created xsi:type="dcterms:W3CDTF">2013-01-27T09:14:16Z</dcterms:created>
  <dcterms:modified xsi:type="dcterms:W3CDTF">2026-03-29T14:39:08Z</dcterms:modified>
  <dc:language>es-AR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